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58" r:id="rId8"/>
    <p:sldId id="259" r:id="rId9"/>
    <p:sldId id="260" r:id="rId10"/>
    <p:sldId id="261" r:id="rId11"/>
    <p:sldId id="265" r:id="rId12"/>
    <p:sldId id="266" r:id="rId13"/>
    <p:sldId id="262" r:id="rId14"/>
    <p:sldId id="263" r:id="rId15"/>
    <p:sldId id="271" r:id="rId16"/>
    <p:sldId id="272" r:id="rId17"/>
    <p:sldId id="264" r:id="rId1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>
        <p:scale>
          <a:sx n="89" d="100"/>
          <a:sy n="89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A33F-BBA3-A4F8-3900-05B57E09A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6C56C-3565-BCA8-BE23-D0B505371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16E71-915C-E3E3-28EA-C972FF80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1628A-C4F8-0564-564A-F563FB6E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8AB00-0254-71FC-F89E-D53DAFFD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9530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3EEB-1EE6-FF22-B890-1C3B484B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30C81-BD44-C6E1-523C-9490B6E95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2DC1-E0E1-B0AE-CCA6-AC368DC4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B530E-16C6-CCC4-EFA0-B7FC6D61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EC2D-3E3A-DA83-C3B7-0D27A130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139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D460-F978-1D6A-4F12-3DD84274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6631F-0C5A-13D8-AB87-8D17951BF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D7FD0-F544-4360-18E5-BE609A37C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E42F6-3FFE-2722-FAD2-AEBB5CB1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127D-0168-6710-ED93-1251051E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0482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C1A0-798B-3C69-C703-8A5FF065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7C062-40C4-4FF1-E6F2-D841418D4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1F8CB-A7D0-3744-A82C-50D58C75B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E438D-3D06-7224-E027-BAAC17BC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C32CA-141E-12B3-555F-7E8055BA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7CFCF-A0D6-1087-7018-4083C751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4810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9A08-1F24-6C4C-2FB4-AEF9BF1B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7C8F3-D9DE-131C-9B23-68F92D524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1A397-3FF8-8ECC-EBA1-DB7D33BC8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A027C-000B-88A2-EC01-68807D452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F4D75-2B5C-E3A0-FD42-1E7B1AF82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82934-7E5A-7926-2EE4-1C6F42A5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43801-1B42-6906-8908-1FE3C0D7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B6C91-7117-2FDC-F6CE-8CF91E8F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55014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DC16-950C-2057-D402-AADD884E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E2AA4D-AFC4-26DD-FEE7-878B6FB4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7ECCD-6BAB-5BB7-2AF8-A64C2250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901E3-4C7C-AF2E-66D4-3B17545D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9752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33FC0-B268-FF07-3C5B-CA59E9092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FA06D-050E-6B5C-A438-9B558A26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4673B-D996-2542-E527-523179D6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69798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5FE8-8B31-F7BC-8BEE-4958CCB7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54E90-1AE5-EEC7-3887-3B2BC8AD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004E9-AD20-27A5-BC48-4DAFAA044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A655A-F382-D0B3-A179-4CBFBB33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C4B25-D9D5-49EA-5786-E3EA500F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3C408-3946-245F-86C5-54B32854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504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DC73-A139-4A31-30AC-CE73EA2F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80D55-F16B-AE05-22DB-DFF05AD72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76F7C-1E5B-5698-8166-F15126D8C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DF2DC-0FDC-C7D2-DAE6-671BD326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81D13-E97F-375B-5DB0-46D1177E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B12DD-F1B1-966E-80DF-9187F4C4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5654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5CFF-E281-D245-F199-9AE1CD06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BC6A4-38FA-0C4C-B8A8-5F9B54EEA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16B99-FBCE-5554-0CDA-119314F2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3969E-F33F-ABE0-6CB2-5F60E4AF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BA389-8F15-DD52-EFE0-C474D7BD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545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89595-CDA8-8527-777A-C3391937A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6967F-A15A-5402-94DE-49E38CA47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9DC21-BEE8-452A-5350-E48D5216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C4353-3BBD-3A9F-869E-0C5A4ABC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500E7-AAB6-5141-8923-60DD6208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771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761935-1D7B-CE3E-B705-32173740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46D91-DB89-1C24-9DBB-7078BD5B1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35361-7A75-1348-55B8-D8615D23A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08B82-F97F-4828-9186-4C6AB2EFCAFD}" type="datetimeFigureOut">
              <a:rPr lang="en-CH" smtClean="0"/>
              <a:t>27.05.2026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A2D53-3F67-3392-9E08-41551BED0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7D2CB-B3F6-31D6-ED7B-48DB92D4C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3A20D-DBCC-4BDF-9F56-7F61008134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338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385B-7D95-602C-5141-2A75AE37B1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ASAD : Jeu de roulette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7C290-3A71-A5C2-6458-607ED1922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28898"/>
          </a:xfrm>
        </p:spPr>
        <p:txBody>
          <a:bodyPr/>
          <a:lstStyle/>
          <a:p>
            <a:r>
              <a:rPr lang="en-US" dirty="0"/>
              <a:t>Mouti Amir, N’dri Yao Anassa, Steiger Robin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2451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E2A3-8F49-0A77-37F4-C59000C6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Introduction</a:t>
            </a:r>
            <a:endParaRPr lang="en-C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21140-814F-3C1E-7FBA-E8296874D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Projet initial :</a:t>
            </a:r>
          </a:p>
          <a:p>
            <a:pPr lvl="1"/>
            <a:r>
              <a:rPr lang="fr-FR" dirty="0"/>
              <a:t>Architecture : </a:t>
            </a:r>
            <a:r>
              <a:rPr lang="fr-FR" i="1" dirty="0"/>
              <a:t>Data </a:t>
            </a:r>
            <a:r>
              <a:rPr lang="fr-FR" i="1" dirty="0" err="1"/>
              <a:t>Centered</a:t>
            </a:r>
            <a:endParaRPr lang="fr-FR" i="1" dirty="0"/>
          </a:p>
          <a:p>
            <a:pPr lvl="1"/>
            <a:r>
              <a:rPr lang="fr-FR" dirty="0"/>
              <a:t>Jeu de roulette multijoueur</a:t>
            </a:r>
          </a:p>
          <a:p>
            <a:r>
              <a:rPr lang="fr-FR" b="1" dirty="0"/>
              <a:t>Phase 2 :</a:t>
            </a:r>
          </a:p>
          <a:p>
            <a:pPr lvl="1"/>
            <a:r>
              <a:rPr lang="fr-FR" i="1" dirty="0"/>
              <a:t>S : </a:t>
            </a:r>
            <a:r>
              <a:rPr lang="fr-FR" dirty="0"/>
              <a:t>Système d’authentification et cryptage des échange de données</a:t>
            </a:r>
          </a:p>
          <a:p>
            <a:pPr lvl="1"/>
            <a:r>
              <a:rPr lang="fr-FR" i="1" dirty="0"/>
              <a:t>D :</a:t>
            </a:r>
            <a:r>
              <a:rPr lang="fr-FR" dirty="0"/>
              <a:t> Tour transactionnel et persistant en cas de déconnexion</a:t>
            </a:r>
          </a:p>
          <a:p>
            <a:pPr lvl="1"/>
            <a:r>
              <a:rPr lang="fr-FR" i="1" dirty="0"/>
              <a:t>M :</a:t>
            </a:r>
            <a:r>
              <a:rPr lang="fr-FR" dirty="0"/>
              <a:t> Multiple plateau et paris sur une case</a:t>
            </a:r>
          </a:p>
          <a:p>
            <a:r>
              <a:rPr lang="fr-FR" b="1" dirty="0"/>
              <a:t>Déroulement :</a:t>
            </a:r>
          </a:p>
          <a:p>
            <a:pPr lvl="1"/>
            <a:r>
              <a:rPr lang="fr-FR" dirty="0"/>
              <a:t>Nouvelles fonctionnalités</a:t>
            </a:r>
          </a:p>
          <a:p>
            <a:pPr lvl="1"/>
            <a:r>
              <a:rPr lang="fr-FR" dirty="0"/>
              <a:t>Diagrammes</a:t>
            </a:r>
          </a:p>
          <a:p>
            <a:pPr lvl="1"/>
            <a:r>
              <a:rPr lang="fr-FR" dirty="0"/>
              <a:t>Critique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212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D9F5-E9BB-C574-6BEE-D3257159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3A6E-881A-431B-3678-0B544053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Securité</a:t>
            </a:r>
            <a:endParaRPr lang="en-C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967E7-60F8-9EDE-99AB-307DE3EB5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Projet initial :</a:t>
            </a:r>
          </a:p>
          <a:p>
            <a:pPr lvl="1"/>
            <a:r>
              <a:rPr lang="fr-FR" dirty="0"/>
              <a:t>Architecture : </a:t>
            </a:r>
            <a:r>
              <a:rPr lang="fr-FR" i="1" dirty="0"/>
              <a:t>Data </a:t>
            </a:r>
            <a:r>
              <a:rPr lang="fr-FR" i="1" dirty="0" err="1"/>
              <a:t>Centered</a:t>
            </a:r>
            <a:endParaRPr lang="fr-FR" i="1" dirty="0"/>
          </a:p>
          <a:p>
            <a:pPr lvl="1"/>
            <a:r>
              <a:rPr lang="fr-FR" dirty="0"/>
              <a:t>Jeu de roulette multijoueur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b="1" dirty="0"/>
              <a:t>Phase 2 :</a:t>
            </a:r>
          </a:p>
          <a:p>
            <a:pPr lvl="1"/>
            <a:r>
              <a:rPr lang="fr-FR" i="1" dirty="0"/>
              <a:t>S : </a:t>
            </a:r>
            <a:r>
              <a:rPr lang="fr-FR" dirty="0"/>
              <a:t>Système d’authentification et cryptage des échange de données</a:t>
            </a:r>
          </a:p>
          <a:p>
            <a:pPr lvl="1"/>
            <a:r>
              <a:rPr lang="fr-FR" i="1" dirty="0"/>
              <a:t>D :</a:t>
            </a:r>
            <a:r>
              <a:rPr lang="fr-FR" dirty="0"/>
              <a:t> Tour transactionnel et persistant en cas de déconnexion</a:t>
            </a:r>
          </a:p>
          <a:p>
            <a:pPr lvl="1"/>
            <a:r>
              <a:rPr lang="fr-FR" i="1" dirty="0"/>
              <a:t>M :</a:t>
            </a:r>
            <a:r>
              <a:rPr lang="fr-FR" dirty="0"/>
              <a:t> Multiple plateau et paris sur une case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2406016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BF59F-9843-4E4A-E987-FC51F040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D81B-7319-491A-CF0A-A95253EF8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Disponibilité</a:t>
            </a:r>
            <a:endParaRPr lang="en-C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1E0E9-884A-9DD5-3ED2-6DE42B2F5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D1 : Tour transactionnel</a:t>
            </a:r>
            <a:endParaRPr lang="fr-FR" dirty="0"/>
          </a:p>
          <a:p>
            <a:pPr lvl="1"/>
            <a:endParaRPr lang="fr-FR" i="1" dirty="0"/>
          </a:p>
          <a:p>
            <a:pPr lvl="1"/>
            <a:r>
              <a:rPr lang="fr-FR" i="1" dirty="0"/>
              <a:t>Stratégie</a:t>
            </a:r>
            <a:r>
              <a:rPr lang="fr-FR" dirty="0"/>
              <a:t> : </a:t>
            </a:r>
          </a:p>
          <a:p>
            <a:pPr lvl="2"/>
            <a:r>
              <a:rPr lang="fr-FR" dirty="0"/>
              <a:t>Classe « </a:t>
            </a:r>
            <a:r>
              <a:rPr lang="fr-FR" dirty="0" err="1"/>
              <a:t>RoundSnapshot</a:t>
            </a:r>
            <a:r>
              <a:rPr lang="fr-FR" dirty="0"/>
              <a:t> » enregistrant les informations d’un tour</a:t>
            </a:r>
          </a:p>
          <a:p>
            <a:pPr lvl="2"/>
            <a:r>
              <a:rPr lang="fr-FR" dirty="0"/>
              <a:t>Repository sauvegardant les tours et leur exécution</a:t>
            </a:r>
          </a:p>
          <a:p>
            <a:pPr lvl="2"/>
            <a:r>
              <a:rPr lang="fr-FR" dirty="0"/>
              <a:t>Méthode « </a:t>
            </a:r>
            <a:r>
              <a:rPr lang="fr-FR" dirty="0" err="1"/>
              <a:t>applyPayouts</a:t>
            </a:r>
            <a:r>
              <a:rPr lang="fr-FR" dirty="0"/>
              <a:t> » qui applique le tour courant à la fin du </a:t>
            </a:r>
            <a:r>
              <a:rPr lang="fr-FR" dirty="0" err="1"/>
              <a:t>timer</a:t>
            </a:r>
            <a:endParaRPr lang="fr-FR" dirty="0"/>
          </a:p>
          <a:p>
            <a:pPr lvl="2"/>
            <a:endParaRPr lang="fr-FR" dirty="0"/>
          </a:p>
          <a:p>
            <a:r>
              <a:rPr lang="fr-FR" b="1" dirty="0"/>
              <a:t>D2 : </a:t>
            </a:r>
            <a:r>
              <a:rPr lang="fr-FR" b="1" dirty="0" err="1"/>
              <a:t>Persistence</a:t>
            </a:r>
            <a:r>
              <a:rPr lang="fr-FR" b="1" dirty="0"/>
              <a:t> d’un tour</a:t>
            </a:r>
            <a:endParaRPr lang="fr-FR" dirty="0"/>
          </a:p>
          <a:p>
            <a:pPr lvl="1"/>
            <a:endParaRPr lang="fr-FR" i="1" dirty="0"/>
          </a:p>
          <a:p>
            <a:pPr lvl="1"/>
            <a:r>
              <a:rPr lang="fr-FR" i="1" dirty="0"/>
              <a:t>Stratégie</a:t>
            </a:r>
            <a:r>
              <a:rPr lang="fr-FR" dirty="0"/>
              <a:t> :</a:t>
            </a:r>
          </a:p>
          <a:p>
            <a:pPr lvl="2"/>
            <a:r>
              <a:rPr lang="fr-FR" dirty="0"/>
              <a:t>Méthode « </a:t>
            </a:r>
            <a:r>
              <a:rPr lang="fr-FR" dirty="0" err="1"/>
              <a:t>applyPayouts</a:t>
            </a:r>
            <a:r>
              <a:rPr lang="fr-FR" dirty="0"/>
              <a:t> » qui sauvegarde les résultats dans le repository malgré une déconnexion</a:t>
            </a:r>
          </a:p>
          <a:p>
            <a:pPr lvl="2"/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8227A-D483-83E2-A23B-6E926FCC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69360"/>
            <a:ext cx="4076730" cy="129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49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F8A0-0BC5-3F89-68BC-172971E0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58DD-5E78-CDC3-F395-4DB8606D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Modifiabilité</a:t>
            </a:r>
            <a:endParaRPr lang="en-C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7AFC7-852D-87CA-D16D-DF2BDC53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Projet initial :</a:t>
            </a:r>
          </a:p>
          <a:p>
            <a:pPr lvl="1"/>
            <a:r>
              <a:rPr lang="fr-FR" dirty="0"/>
              <a:t>Architecture : </a:t>
            </a:r>
            <a:r>
              <a:rPr lang="fr-FR" i="1" dirty="0"/>
              <a:t>Data </a:t>
            </a:r>
            <a:r>
              <a:rPr lang="fr-FR" i="1" dirty="0" err="1"/>
              <a:t>Centered</a:t>
            </a:r>
            <a:endParaRPr lang="fr-FR" i="1" dirty="0"/>
          </a:p>
          <a:p>
            <a:pPr lvl="1"/>
            <a:r>
              <a:rPr lang="fr-FR" dirty="0"/>
              <a:t>Jeu de roulette multijoueur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b="1" dirty="0"/>
              <a:t>Phase 2 :</a:t>
            </a:r>
          </a:p>
          <a:p>
            <a:pPr lvl="1"/>
            <a:r>
              <a:rPr lang="fr-FR" i="1" dirty="0"/>
              <a:t>S : </a:t>
            </a:r>
            <a:r>
              <a:rPr lang="fr-FR" dirty="0"/>
              <a:t>Système d’authentification et cryptage des échange de données</a:t>
            </a:r>
          </a:p>
          <a:p>
            <a:pPr lvl="1"/>
            <a:r>
              <a:rPr lang="fr-FR" i="1" dirty="0"/>
              <a:t>D :</a:t>
            </a:r>
            <a:r>
              <a:rPr lang="fr-FR" dirty="0"/>
              <a:t> Tour transactionnel et persistant en cas de déconnexion</a:t>
            </a:r>
          </a:p>
          <a:p>
            <a:pPr lvl="1"/>
            <a:r>
              <a:rPr lang="fr-FR" i="1" dirty="0"/>
              <a:t>M :</a:t>
            </a:r>
            <a:r>
              <a:rPr lang="fr-FR" dirty="0"/>
              <a:t> Multiple plateau et paris sur une case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398572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6248-B648-6411-FA48-C63F5833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279F-21E8-A05D-AE4B-B3DB99DD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err="1"/>
              <a:t>Diagrammes</a:t>
            </a:r>
            <a:endParaRPr lang="en-CH" sz="6000" b="1" dirty="0"/>
          </a:p>
        </p:txBody>
      </p:sp>
    </p:spTree>
    <p:extLst>
      <p:ext uri="{BB962C8B-B14F-4D97-AF65-F5344CB8AC3E}">
        <p14:creationId xmlns:p14="http://schemas.microsoft.com/office/powerpoint/2010/main" val="235325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0BBD-B33A-5BF5-1A3D-5D6F55E6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987"/>
            <a:ext cx="10515600" cy="1325563"/>
          </a:xfrm>
        </p:spPr>
        <p:txBody>
          <a:bodyPr/>
          <a:lstStyle/>
          <a:p>
            <a:r>
              <a:rPr lang="fr-FR" dirty="0"/>
              <a:t>Diagramme de</a:t>
            </a:r>
            <a:br>
              <a:rPr lang="fr-FR" dirty="0"/>
            </a:br>
            <a:r>
              <a:rPr lang="fr-FR" dirty="0" err="1"/>
              <a:t>Usecase</a:t>
            </a:r>
            <a:endParaRPr lang="en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46145EAE-B2DC-7C6C-6A5F-2F186CDA0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066" y="530144"/>
            <a:ext cx="5620243" cy="559486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22F10BA-8BDE-647C-2FE3-05E029519E53}"/>
              </a:ext>
            </a:extLst>
          </p:cNvPr>
          <p:cNvSpPr txBox="1"/>
          <p:nvPr/>
        </p:nvSpPr>
        <p:spPr>
          <a:xfrm>
            <a:off x="725214" y="2343807"/>
            <a:ext cx="4267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Changement: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Deux plateaux de jeu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Les joueurs peuvent choisir le plateau sur lequel jouer entre chaque partie</a:t>
            </a:r>
          </a:p>
        </p:txBody>
      </p:sp>
    </p:spTree>
    <p:extLst>
      <p:ext uri="{BB962C8B-B14F-4D97-AF65-F5344CB8AC3E}">
        <p14:creationId xmlns:p14="http://schemas.microsoft.com/office/powerpoint/2010/main" val="214836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B8CE-B221-F8E8-E3DF-09FDE7AF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DFD</a:t>
            </a:r>
            <a:endParaRPr lang="en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4987C348-78D1-4E51-9D58-97A6D15A2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894" y="234022"/>
            <a:ext cx="6975906" cy="625885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486416A-D519-8D5D-A582-E2519E7B9110}"/>
              </a:ext>
            </a:extLst>
          </p:cNvPr>
          <p:cNvSpPr txBox="1"/>
          <p:nvPr/>
        </p:nvSpPr>
        <p:spPr>
          <a:xfrm>
            <a:off x="262759" y="1690688"/>
            <a:ext cx="40359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Changements: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Player Handling se charge maintenant de l’authentification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Au lieu de laisser les joueurs joindre la partie, il faut s’enregistrer et se login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Les infos des joueurs sont persistantes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44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8027-468C-33F7-41AF-F5FA092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8216"/>
          </a:xfrm>
        </p:spPr>
        <p:txBody>
          <a:bodyPr/>
          <a:lstStyle/>
          <a:p>
            <a:pPr algn="ctr"/>
            <a:r>
              <a:rPr lang="en-US" dirty="0" err="1"/>
              <a:t>Diagramme</a:t>
            </a:r>
            <a:r>
              <a:rPr lang="en-US" dirty="0"/>
              <a:t> de Requirements</a:t>
            </a:r>
            <a:endParaRPr lang="en-CH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3D1D0EA-95B7-C95A-E441-AE4DC24E6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355" y="764819"/>
            <a:ext cx="8461807" cy="572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89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EB3B64-2366-60B3-BFD9-2498BB6E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composants</a:t>
            </a:r>
            <a:endParaRPr lang="fr-CH" dirty="0"/>
          </a:p>
        </p:txBody>
      </p:sp>
      <p:pic>
        <p:nvPicPr>
          <p:cNvPr id="15" name="Espace réservé du contenu 14">
            <a:extLst>
              <a:ext uri="{FF2B5EF4-FFF2-40B4-BE49-F238E27FC236}">
                <a16:creationId xmlns:a16="http://schemas.microsoft.com/office/drawing/2014/main" id="{17C01AD7-76C3-A91C-9375-5D9B73813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42" y="1485874"/>
            <a:ext cx="9736752" cy="338041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9EC9D06-4915-AC97-BF0E-6B1E8A2A7C0D}"/>
              </a:ext>
            </a:extLst>
          </p:cNvPr>
          <p:cNvSpPr txBox="1"/>
          <p:nvPr/>
        </p:nvSpPr>
        <p:spPr>
          <a:xfrm>
            <a:off x="725214" y="5213131"/>
            <a:ext cx="10405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Changements: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Ajout d’un Game Storage (DB) pour sauvegarder les informations des joueurs</a:t>
            </a:r>
          </a:p>
          <a:p>
            <a:pPr marL="285750" indent="-285750">
              <a:buFontTx/>
              <a:buChar char="-"/>
            </a:pPr>
            <a:r>
              <a:rPr lang="fr-FR" dirty="0"/>
              <a:t>Ajout d’un utilitaire pour chiffrer les communications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67787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4CD332B-F15E-0E2F-C8E9-76BE6EF14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9" y="0"/>
            <a:ext cx="113614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17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B4162C-C3D5-21C5-74B1-AB9A25B51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61" y="0"/>
            <a:ext cx="10907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2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8B31E1-F7FB-5E99-EA45-073B05775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classes</a:t>
            </a:r>
            <a:endParaRPr lang="fr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8B6CC18-9E52-AC71-36F7-498250F24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445" y="1496026"/>
            <a:ext cx="8811110" cy="499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8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944A1B-5D11-648A-2775-DC7C5644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déploiement</a:t>
            </a:r>
            <a:endParaRPr lang="fr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5BA6DD6C-4CCD-D909-4577-093C98B4C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42" y="1933904"/>
            <a:ext cx="10891115" cy="38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15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5120D-78C5-1336-2E86-8672F20C6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452A9-307E-C7E1-E50B-E58A2174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Critiques</a:t>
            </a:r>
            <a:endParaRPr lang="en-CH" sz="6000" b="1" dirty="0"/>
          </a:p>
        </p:txBody>
      </p:sp>
    </p:spTree>
    <p:extLst>
      <p:ext uri="{BB962C8B-B14F-4D97-AF65-F5344CB8AC3E}">
        <p14:creationId xmlns:p14="http://schemas.microsoft.com/office/powerpoint/2010/main" val="2380081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C3CE-FD2D-8929-3FDF-062E00CD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87A34-17C3-E1E2-692E-AEF4C358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36" y="1075763"/>
            <a:ext cx="5417372" cy="5443370"/>
          </a:xfrm>
        </p:spPr>
        <p:txBody>
          <a:bodyPr>
            <a:normAutofit/>
          </a:bodyPr>
          <a:lstStyle/>
          <a:p>
            <a:r>
              <a:rPr lang="fr-FR" sz="2200" i="1" dirty="0"/>
              <a:t>Séparation des responsabilités claire et bien intégrée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1A3EEB-BCE5-85AA-3A6F-951EB133B507}"/>
              </a:ext>
            </a:extLst>
          </p:cNvPr>
          <p:cNvSpPr txBox="1">
            <a:spLocks/>
          </p:cNvSpPr>
          <p:nvPr/>
        </p:nvSpPr>
        <p:spPr>
          <a:xfrm>
            <a:off x="5814508" y="1075765"/>
            <a:ext cx="5417372" cy="5443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200" i="1" dirty="0"/>
              <a:t>Technologies présentant une courbe d’apprentissage importante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7DC38B-8568-4F3E-28F6-FED2BE28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36" y="365125"/>
            <a:ext cx="5455024" cy="710639"/>
          </a:xfrm>
        </p:spPr>
        <p:txBody>
          <a:bodyPr/>
          <a:lstStyle/>
          <a:p>
            <a:pPr algn="ctr"/>
            <a:r>
              <a:rPr lang="fr-F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Avantages</a:t>
            </a:r>
            <a:endParaRPr lang="en-CH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F4D7644-E309-5FC0-DA68-7E2CD067DE6B}"/>
              </a:ext>
            </a:extLst>
          </p:cNvPr>
          <p:cNvSpPr txBox="1">
            <a:spLocks/>
          </p:cNvSpPr>
          <p:nvPr/>
        </p:nvSpPr>
        <p:spPr>
          <a:xfrm>
            <a:off x="6339842" y="365124"/>
            <a:ext cx="5455024" cy="710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>
                <a:solidFill>
                  <a:srgbClr val="FF0000"/>
                </a:solidFill>
              </a:rPr>
              <a:t>Inconvénients</a:t>
            </a:r>
          </a:p>
        </p:txBody>
      </p:sp>
    </p:spTree>
    <p:extLst>
      <p:ext uri="{BB962C8B-B14F-4D97-AF65-F5344CB8AC3E}">
        <p14:creationId xmlns:p14="http://schemas.microsoft.com/office/powerpoint/2010/main" val="3187382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AA996A-572F-3A44-9C59-61D35639F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30" y="597648"/>
            <a:ext cx="6357962" cy="566270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F105A26-303C-8840-D40C-00BB8493D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002" y="2766218"/>
            <a:ext cx="4377466" cy="1325563"/>
          </a:xfrm>
        </p:spPr>
        <p:txBody>
          <a:bodyPr/>
          <a:lstStyle/>
          <a:p>
            <a:pPr algn="ctr"/>
            <a:r>
              <a:rPr lang="fr-CH" b="1" dirty="0"/>
              <a:t>Démonstration</a:t>
            </a:r>
          </a:p>
        </p:txBody>
      </p:sp>
    </p:spTree>
    <p:extLst>
      <p:ext uri="{BB962C8B-B14F-4D97-AF65-F5344CB8AC3E}">
        <p14:creationId xmlns:p14="http://schemas.microsoft.com/office/powerpoint/2010/main" val="359236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316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ASAD : Jeu de roulette</vt:lpstr>
      <vt:lpstr>Introduction</vt:lpstr>
      <vt:lpstr>Securité</vt:lpstr>
      <vt:lpstr>Disponibilité</vt:lpstr>
      <vt:lpstr>Modifiabilité</vt:lpstr>
      <vt:lpstr>Diagrammes</vt:lpstr>
      <vt:lpstr>Diagramme de Usecase</vt:lpstr>
      <vt:lpstr>DFD</vt:lpstr>
      <vt:lpstr>Diagramme de Requirements</vt:lpstr>
      <vt:lpstr>Diagramme de composants</vt:lpstr>
      <vt:lpstr>PowerPoint Presentation</vt:lpstr>
      <vt:lpstr>PowerPoint Presentation</vt:lpstr>
      <vt:lpstr>Diagramme de classes</vt:lpstr>
      <vt:lpstr>Diagramme de déploiement</vt:lpstr>
      <vt:lpstr>Critiques</vt:lpstr>
      <vt:lpstr>Avantages</vt:lpstr>
      <vt:lpstr>Démonstration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Bhama Steiger</dc:creator>
  <cp:lastModifiedBy>Bhama Steiger</cp:lastModifiedBy>
  <cp:revision>27</cp:revision>
  <dcterms:created xsi:type="dcterms:W3CDTF">2026-04-21T20:42:31Z</dcterms:created>
  <dcterms:modified xsi:type="dcterms:W3CDTF">2026-05-27T07:59:38Z</dcterms:modified>
</cp:coreProperties>
</file>