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4" r:id="rId4"/>
    <p:sldId id="275" r:id="rId5"/>
    <p:sldId id="276" r:id="rId6"/>
    <p:sldId id="269" r:id="rId7"/>
    <p:sldId id="279" r:id="rId8"/>
    <p:sldId id="280" r:id="rId9"/>
    <p:sldId id="270" r:id="rId10"/>
    <p:sldId id="258" r:id="rId11"/>
    <p:sldId id="259" r:id="rId12"/>
    <p:sldId id="277" r:id="rId13"/>
    <p:sldId id="261" r:id="rId14"/>
    <p:sldId id="273" r:id="rId15"/>
    <p:sldId id="263" r:id="rId16"/>
    <p:sldId id="271" r:id="rId17"/>
    <p:sldId id="272" r:id="rId18"/>
    <p:sldId id="265" r:id="rId19"/>
    <p:sldId id="264" r:id="rId20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0" y="6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F80B0-8EF7-4B5C-A99C-A6E549D6FFBB}" type="datetimeFigureOut">
              <a:rPr lang="fr-CH" smtClean="0"/>
              <a:t>27.05.2026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C48163-D5D4-4651-A954-E994903C76A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925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Seul changement: </a:t>
            </a:r>
            <a:r>
              <a:rPr lang="fr-FR" dirty="0" err="1"/>
              <a:t>game-storage.json</a:t>
            </a:r>
            <a:r>
              <a:rPr lang="fr-FR" dirty="0"/>
              <a:t> (pseudo DB)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C48163-D5D4-4651-A954-E994903C76AF}" type="slidenum">
              <a:rPr lang="fr-CH" smtClean="0"/>
              <a:t>15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7494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Introduction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</a:p>
          <a:p>
            <a:r>
              <a:rPr lang="fr-FR" b="1" dirty="0"/>
              <a:t>Déroulement :</a:t>
            </a:r>
          </a:p>
          <a:p>
            <a:pPr lvl="1"/>
            <a:r>
              <a:rPr lang="fr-FR" dirty="0"/>
              <a:t>Nouvelles fonctionnalités</a:t>
            </a:r>
          </a:p>
          <a:p>
            <a:pPr lvl="1"/>
            <a:r>
              <a:rPr lang="fr-FR" dirty="0"/>
              <a:t>Diagrammes</a:t>
            </a:r>
          </a:p>
          <a:p>
            <a:pPr lvl="1"/>
            <a:r>
              <a:rPr lang="fr-FR" dirty="0"/>
              <a:t>Critique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8D9F5-E9BB-C574-6BEE-D3257159D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3A6E-881A-431B-3678-0B544053A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Securité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967E7-60F8-9EDE-99AB-307DE3EB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Chiffrement des communications :</a:t>
            </a:r>
          </a:p>
          <a:p>
            <a:pPr lvl="1"/>
            <a:r>
              <a:rPr lang="fr-FR" dirty="0"/>
              <a:t>Utilitaire </a:t>
            </a:r>
            <a:r>
              <a:rPr lang="fr-FR" dirty="0" err="1"/>
              <a:t>encryption.util</a:t>
            </a:r>
            <a:r>
              <a:rPr lang="fr-FR" dirty="0"/>
              <a:t> qui permet de chiffrer/déchiffrer des objets </a:t>
            </a:r>
            <a:r>
              <a:rPr lang="fr-FR" dirty="0" err="1"/>
              <a:t>json</a:t>
            </a:r>
            <a:endParaRPr lang="fr-FR" dirty="0"/>
          </a:p>
          <a:p>
            <a:pPr lvl="1"/>
            <a:r>
              <a:rPr lang="fr-FR" dirty="0"/>
              <a:t>Les paquets sont chiffrés avant d’être envoyés dans le </a:t>
            </a:r>
            <a:r>
              <a:rPr lang="fr-FR" dirty="0" err="1"/>
              <a:t>WebSocket</a:t>
            </a:r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Gérer l’authentification des utilisateurs :</a:t>
            </a:r>
          </a:p>
          <a:p>
            <a:pPr lvl="1"/>
            <a:r>
              <a:rPr lang="fr-FR" dirty="0"/>
              <a:t>Sauvegarde des utilisateurs dans un fichier </a:t>
            </a:r>
            <a:r>
              <a:rPr lang="fr-FR" dirty="0" err="1"/>
              <a:t>json</a:t>
            </a:r>
            <a:r>
              <a:rPr lang="fr-FR" dirty="0"/>
              <a:t> qui fait office de DB</a:t>
            </a:r>
          </a:p>
          <a:p>
            <a:pPr lvl="1"/>
            <a:r>
              <a:rPr lang="fr-FR" dirty="0"/>
              <a:t>Pour se connecter, il faut fournir un </a:t>
            </a:r>
            <a:r>
              <a:rPr lang="fr-FR" dirty="0" err="1"/>
              <a:t>username</a:t>
            </a:r>
            <a:r>
              <a:rPr lang="fr-FR" dirty="0"/>
              <a:t> et mot de passe qui sont comparés avec les utilisateurs stockés dans la base de données</a:t>
            </a:r>
          </a:p>
        </p:txBody>
      </p:sp>
    </p:spTree>
    <p:extLst>
      <p:ext uri="{BB962C8B-B14F-4D97-AF65-F5344CB8AC3E}">
        <p14:creationId xmlns:p14="http://schemas.microsoft.com/office/powerpoint/2010/main" val="2115648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BF59F-9843-4E4A-E987-FC51F040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BD81B-7319-491A-CF0A-A95253EF8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1E0E9-884A-9DD5-3ED2-6DE42B2F5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D1 : Tour transactionnel</a:t>
            </a:r>
            <a:endParaRPr lang="fr-FR" dirty="0"/>
          </a:p>
          <a:p>
            <a:pPr lvl="1"/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Classe « </a:t>
            </a:r>
            <a:r>
              <a:rPr lang="fr-FR" dirty="0" err="1"/>
              <a:t>RoundSnapshot</a:t>
            </a:r>
            <a:r>
              <a:rPr lang="fr-FR" dirty="0"/>
              <a:t> » enregistrant les informations d’un tour</a:t>
            </a:r>
          </a:p>
          <a:p>
            <a:pPr lvl="2"/>
            <a:r>
              <a:rPr lang="fr-FR" dirty="0"/>
              <a:t>Repository sauvegardant les tours et leur exécution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applique le tour courant à la fin du </a:t>
            </a:r>
            <a:r>
              <a:rPr lang="fr-FR" dirty="0" err="1"/>
              <a:t>timer</a:t>
            </a:r>
            <a:endParaRPr lang="fr-FR" dirty="0"/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Complexité moyenne, mise en place d’un repository et centralisation du fonctionnement d’un tour</a:t>
            </a:r>
          </a:p>
          <a:p>
            <a:pPr lvl="2"/>
            <a:r>
              <a:rPr lang="fr-FR" dirty="0"/>
              <a:t>Coût plutôt faible, méthode d’application équivalente au traitement précédent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C8227A-D483-83E2-A23B-6E926FC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403" y="876706"/>
            <a:ext cx="5484637" cy="1742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1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E4AE9-8521-404F-4864-A5A4AB492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D5D3C-5912-3E90-A946-CC86D61E8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02A46-2457-532A-99E2-0B7A78C64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49108"/>
            <a:ext cx="593373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D2 : Persistance d’un tour</a:t>
            </a:r>
            <a:endParaRPr lang="fr-FR" i="1" dirty="0"/>
          </a:p>
          <a:p>
            <a:pPr marL="457200" lvl="1" indent="0">
              <a:buNone/>
            </a:pPr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sauvegarde les résultats dans le repository malgré une déconnexion</a:t>
            </a:r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 </a:t>
            </a:r>
            <a:r>
              <a:rPr lang="fr-FR" dirty="0"/>
              <a:t>:</a:t>
            </a:r>
          </a:p>
          <a:p>
            <a:pPr lvl="2"/>
            <a:r>
              <a:rPr lang="fr-FR" dirty="0"/>
              <a:t>Complexité équivalente à la précédente, les 2 objectifs étant </a:t>
            </a:r>
            <a:r>
              <a:rPr lang="fr-FR" dirty="0" err="1"/>
              <a:t>co</a:t>
            </a:r>
            <a:r>
              <a:rPr lang="fr-FR" dirty="0"/>
              <a:t>-dépendant</a:t>
            </a:r>
          </a:p>
          <a:p>
            <a:pPr lvl="2"/>
            <a:r>
              <a:rPr lang="fr-FR" dirty="0"/>
              <a:t>Coût moyen, stockage de l’ensemble des données du serveur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2AF649-5032-8F7C-4E64-440D2D436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542" y="2077347"/>
            <a:ext cx="4623372" cy="3094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615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AF8A0-0BC5-3F89-68BC-172971E05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58DD-5E78-CDC3-F395-4DB8606D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Modifiabilité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7AFC7-852D-87CA-D16D-DF2BDC537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85724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E104D-CFB4-514D-D227-FCECB5C17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3B858-6690-34CA-4BD4-06255BE14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b="1" dirty="0">
                <a:latin typeface="Aptos Display (En-têtes)"/>
              </a:rPr>
              <a:t>M1 : Multi-plateaux</a:t>
            </a:r>
            <a:endParaRPr lang="en-CH" b="1" dirty="0">
              <a:latin typeface="Aptos Display (En-têtes)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599DC-13B0-0FED-79A6-A26359CB1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Stratégie :</a:t>
            </a:r>
          </a:p>
          <a:p>
            <a:pPr lvl="1"/>
            <a:r>
              <a:rPr lang="fr-FR" dirty="0"/>
              <a:t>Mise en place de deux plateaux </a:t>
            </a:r>
            <a:r>
              <a:rPr lang="fr-FR" dirty="0">
                <a:latin typeface="Avenir Next LT Pro Light" panose="020B0304020202020204" pitchFamily="34" charset="0"/>
              </a:rPr>
              <a:t>(</a:t>
            </a:r>
            <a:r>
              <a:rPr lang="fr-FR" dirty="0" err="1">
                <a:latin typeface="Avenir Next LT Pro Light" panose="020B0304020202020204" pitchFamily="34" charset="0"/>
              </a:rPr>
              <a:t>european</a:t>
            </a:r>
            <a:r>
              <a:rPr lang="fr-FR" dirty="0">
                <a:latin typeface="Avenir Next LT Pro Light" panose="020B0304020202020204" pitchFamily="34" charset="0"/>
              </a:rPr>
              <a:t> et mini)</a:t>
            </a:r>
            <a:endParaRPr lang="fr-FR" i="1" dirty="0">
              <a:latin typeface="Avenir Next LT Pro Light" panose="020B0304020202020204" pitchFamily="34" charset="0"/>
            </a:endParaRPr>
          </a:p>
          <a:p>
            <a:pPr lvl="1"/>
            <a:r>
              <a:rPr lang="fr-FR" dirty="0"/>
              <a:t>Chaque joueur est verrouillé sur son premier plateau choisi</a:t>
            </a:r>
          </a:p>
          <a:p>
            <a:pPr lvl="1"/>
            <a:r>
              <a:rPr lang="fr-FR" dirty="0"/>
              <a:t>Traitement des paris séparé selon le plateau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CH" b="1" dirty="0"/>
              <a:t>Coût / Complexité </a:t>
            </a:r>
            <a:r>
              <a:rPr lang="fr-FR" b="1" dirty="0"/>
              <a:t> :</a:t>
            </a:r>
          </a:p>
          <a:p>
            <a:pPr lvl="1"/>
            <a:r>
              <a:rPr lang="fr-FR" i="1" dirty="0"/>
              <a:t> </a:t>
            </a:r>
            <a:r>
              <a:rPr lang="fr-FR" dirty="0"/>
              <a:t>Complexité moyenne, adaptation des modèles et des règles métier</a:t>
            </a:r>
          </a:p>
          <a:p>
            <a:pPr lvl="1"/>
            <a:r>
              <a:rPr lang="fr-FR" dirty="0"/>
              <a:t>Coût faible, logique réutilisée entre les plateaux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4214559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8C80F-B5F0-10E0-D4F3-F8C5FEFA3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3B44C-E900-9605-971B-88BE481A0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M2 : Paris simultanés sur une même case</a:t>
            </a:r>
            <a:endParaRPr lang="en-CH" b="1" dirty="0">
              <a:latin typeface="Aptos Display (En-têtes)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1ABCB-4067-B4EB-028D-BD6A0F9B8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Stratégie :</a:t>
            </a:r>
          </a:p>
          <a:p>
            <a:pPr lvl="1"/>
            <a:r>
              <a:rPr lang="fr-FR" dirty="0"/>
              <a:t>Plusieurs joueurs peuvent parier sur le même numéro</a:t>
            </a:r>
          </a:p>
          <a:p>
            <a:pPr lvl="1"/>
            <a:r>
              <a:rPr lang="fr-FR" dirty="0"/>
              <a:t>Les paris sont stockés individuellement par utilisateur</a:t>
            </a:r>
          </a:p>
          <a:p>
            <a:pPr lvl="1"/>
            <a:r>
              <a:rPr lang="fr-FR" dirty="0"/>
              <a:t>Les gains sont calculés séparément pour chaque 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CH" b="1" dirty="0"/>
              <a:t>Coût / Complexité </a:t>
            </a:r>
            <a:r>
              <a:rPr lang="fr-FR" b="1" dirty="0"/>
              <a:t> :</a:t>
            </a:r>
          </a:p>
          <a:p>
            <a:pPr lvl="1"/>
            <a:r>
              <a:rPr lang="fr-FR" i="1" dirty="0"/>
              <a:t> </a:t>
            </a:r>
            <a:r>
              <a:rPr lang="fr-FR" dirty="0"/>
              <a:t>Complexité faible à moyenne, adaptation de la gestion des paris</a:t>
            </a:r>
          </a:p>
          <a:p>
            <a:pPr lvl="1"/>
            <a:r>
              <a:rPr lang="fr-FR" dirty="0"/>
              <a:t>Coût faible, extension de la structure existante des bets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1938041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6248-B648-6411-FA48-C63F5833B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279F-21E8-A05D-AE4B-B3DB99DDD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 err="1"/>
              <a:t>Diagrammes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53254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6145EAE-B2DC-7C6C-6A5F-2F186CDA0B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066" y="530144"/>
            <a:ext cx="5620243" cy="559486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22F10BA-8BDE-647C-2FE3-05E029519E53}"/>
              </a:ext>
            </a:extLst>
          </p:cNvPr>
          <p:cNvSpPr txBox="1"/>
          <p:nvPr/>
        </p:nvSpPr>
        <p:spPr>
          <a:xfrm>
            <a:off x="725214" y="2343807"/>
            <a:ext cx="42673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Deux plateaux de jeu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joueurs peuvent choisir le plateau sur lequel jouer entre chaque partie</a:t>
            </a:r>
          </a:p>
        </p:txBody>
      </p:sp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987C348-78D1-4E51-9D58-97A6D15A2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894" y="234022"/>
            <a:ext cx="6975906" cy="625885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486416A-D519-8D5D-A582-E2519E7B9110}"/>
              </a:ext>
            </a:extLst>
          </p:cNvPr>
          <p:cNvSpPr txBox="1"/>
          <p:nvPr/>
        </p:nvSpPr>
        <p:spPr>
          <a:xfrm>
            <a:off x="262759" y="1690688"/>
            <a:ext cx="403597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Player Handling se charge maintenant de l’authentification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Au lieu de laisser les joueurs joindre la partie, il faut s’enregistrer et se login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infos des joueurs sont persistantes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8BF12-01CB-D324-E934-33F00DD39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7BF4-153D-CA42-89C5-5EDA17292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8216"/>
          </a:xfrm>
        </p:spPr>
        <p:txBody>
          <a:bodyPr/>
          <a:lstStyle/>
          <a:p>
            <a:pPr algn="ctr"/>
            <a:r>
              <a:rPr lang="en-US" dirty="0" err="1"/>
              <a:t>Diagramme</a:t>
            </a:r>
            <a:r>
              <a:rPr lang="en-US" dirty="0"/>
              <a:t> de Requirements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138B8316-3ABD-17BC-642C-1D81BA5AF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178" y="692092"/>
            <a:ext cx="9691644" cy="603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619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15" name="Espace réservé du contenu 14">
            <a:extLst>
              <a:ext uri="{FF2B5EF4-FFF2-40B4-BE49-F238E27FC236}">
                <a16:creationId xmlns:a16="http://schemas.microsoft.com/office/drawing/2014/main" id="{17C01AD7-76C3-A91C-9375-5D9B73813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42" y="1485874"/>
            <a:ext cx="9736752" cy="338041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9EC9D06-4915-AC97-BF0E-6B1E8A2A7C0D}"/>
              </a:ext>
            </a:extLst>
          </p:cNvPr>
          <p:cNvSpPr txBox="1"/>
          <p:nvPr/>
        </p:nvSpPr>
        <p:spPr>
          <a:xfrm>
            <a:off x="741840" y="5121691"/>
            <a:ext cx="104052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Ajout d’un Game Storage (DB) pour sauvegarder les informations des joueurs et les parties complétées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d’un utilitaire pour chiffrer les communications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classes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8B6CC18-9E52-AC71-36F7-498250F24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7" y="1504340"/>
            <a:ext cx="8692725" cy="492971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6DFA2C3-AD1B-BA11-FA55-D2193C7065A1}"/>
              </a:ext>
            </a:extLst>
          </p:cNvPr>
          <p:cNvSpPr txBox="1"/>
          <p:nvPr/>
        </p:nvSpPr>
        <p:spPr>
          <a:xfrm>
            <a:off x="9060873" y="1454727"/>
            <a:ext cx="30507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pPr marL="285750" indent="-285750">
              <a:buFontTx/>
              <a:buChar char="-"/>
            </a:pPr>
            <a:r>
              <a:rPr lang="fr-FR" dirty="0"/>
              <a:t>Deux </a:t>
            </a:r>
            <a:r>
              <a:rPr lang="fr-FR" dirty="0" err="1"/>
              <a:t>BoardState</a:t>
            </a:r>
            <a:r>
              <a:rPr lang="fr-FR" dirty="0"/>
              <a:t> au lieu de un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de </a:t>
            </a:r>
            <a:r>
              <a:rPr lang="fr-FR" dirty="0" err="1"/>
              <a:t>GameStorage</a:t>
            </a:r>
            <a:r>
              <a:rPr lang="fr-FR" dirty="0"/>
              <a:t> pour sauvegarder les comptes des joueurs et les résultats des parties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47219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5BA6DD6C-4CCD-D909-4577-093C98B4C2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21" y="2442572"/>
            <a:ext cx="10181042" cy="3554971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8323A00E-7E6C-BEE3-CE36-55B30978D934}"/>
              </a:ext>
            </a:extLst>
          </p:cNvPr>
          <p:cNvSpPr txBox="1"/>
          <p:nvPr/>
        </p:nvSpPr>
        <p:spPr>
          <a:xfrm>
            <a:off x="665018" y="1637507"/>
            <a:ext cx="9892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 ajout du </a:t>
            </a:r>
            <a:r>
              <a:rPr lang="fr-FR" dirty="0" err="1"/>
              <a:t>game-storage.json</a:t>
            </a:r>
            <a:r>
              <a:rPr lang="fr-FR" dirty="0"/>
              <a:t> qui fait office de DB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5120D-78C5-1336-2E86-8672F20C6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52A9-307E-C7E1-E50B-E58A21742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/>
              <a:t>Critiques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80081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9C3CE-FD2D-8929-3FDF-062E00CD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87A34-17C3-E1E2-692E-AEF4C358A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136" y="1075763"/>
            <a:ext cx="5417372" cy="5443370"/>
          </a:xfrm>
        </p:spPr>
        <p:txBody>
          <a:bodyPr>
            <a:normAutofit/>
          </a:bodyPr>
          <a:lstStyle/>
          <a:p>
            <a:r>
              <a:rPr lang="fr-FR" sz="2200" i="1" dirty="0"/>
              <a:t>Séparation des responsabilités claire et bien intégrée</a:t>
            </a:r>
          </a:p>
          <a:p>
            <a:r>
              <a:rPr lang="fr-FR" sz="2200" i="1" dirty="0"/>
              <a:t>Implémentation moderne et sécurisée (DTO, Repository)</a:t>
            </a:r>
          </a:p>
          <a:p>
            <a:r>
              <a:rPr lang="fr-FR" sz="2200" i="1" dirty="0"/>
              <a:t>Concurrence réactive et fluide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71A3EEB-BCE5-85AA-3A6F-951EB133B507}"/>
              </a:ext>
            </a:extLst>
          </p:cNvPr>
          <p:cNvSpPr txBox="1">
            <a:spLocks/>
          </p:cNvSpPr>
          <p:nvPr/>
        </p:nvSpPr>
        <p:spPr>
          <a:xfrm>
            <a:off x="5814508" y="1075765"/>
            <a:ext cx="5417372" cy="54433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i="1" dirty="0"/>
              <a:t>Technologies présentant une courbe d’apprentissage importante</a:t>
            </a:r>
          </a:p>
          <a:p>
            <a:r>
              <a:rPr lang="fr-FR" sz="2200" i="1" dirty="0"/>
              <a:t>Absence de certaines options de jeu ( Rouge/Noir, Pair/Impair, 3 zones de cases, etc.)</a:t>
            </a:r>
          </a:p>
          <a:p>
            <a:r>
              <a:rPr lang="fr-FR" sz="2200" i="1" dirty="0"/>
              <a:t>Absence d’un historique des tirages précédent</a:t>
            </a:r>
          </a:p>
          <a:p>
            <a:endParaRPr lang="fr-FR" sz="2200" i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B7DC38B-8568-4F3E-28F6-FED2BE28E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36" y="365125"/>
            <a:ext cx="5455024" cy="710639"/>
          </a:xfrm>
        </p:spPr>
        <p:txBody>
          <a:bodyPr/>
          <a:lstStyle/>
          <a:p>
            <a:pPr algn="ctr"/>
            <a:r>
              <a:rPr lang="fr-FR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Avantages</a:t>
            </a:r>
            <a:endParaRPr lang="en-CH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F4D7644-E309-5FC0-DA68-7E2CD067DE6B}"/>
              </a:ext>
            </a:extLst>
          </p:cNvPr>
          <p:cNvSpPr txBox="1">
            <a:spLocks/>
          </p:cNvSpPr>
          <p:nvPr/>
        </p:nvSpPr>
        <p:spPr>
          <a:xfrm>
            <a:off x="6339842" y="365124"/>
            <a:ext cx="5455024" cy="7106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b="1" dirty="0">
                <a:solidFill>
                  <a:srgbClr val="FF0000"/>
                </a:solidFill>
              </a:rPr>
              <a:t>Inconvénients</a:t>
            </a:r>
          </a:p>
        </p:txBody>
      </p:sp>
    </p:spTree>
    <p:extLst>
      <p:ext uri="{BB962C8B-B14F-4D97-AF65-F5344CB8AC3E}">
        <p14:creationId xmlns:p14="http://schemas.microsoft.com/office/powerpoint/2010/main" val="31873829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34CD332B-F15E-0E2F-C8E9-76BE6EF14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739" t="36736"/>
          <a:stretch>
            <a:fillRect/>
          </a:stretch>
        </p:blipFill>
        <p:spPr>
          <a:xfrm>
            <a:off x="565266" y="1920240"/>
            <a:ext cx="5010160" cy="4322618"/>
          </a:xfrm>
          <a:prstGeom prst="rect">
            <a:avLst/>
          </a:prstGeom>
        </p:spPr>
      </p:pic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0B4162C-C3D5-21C5-74B1-AB9A25B51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19" t="41576"/>
          <a:stretch>
            <a:fillRect/>
          </a:stretch>
        </p:blipFill>
        <p:spPr>
          <a:xfrm>
            <a:off x="6135148" y="1920240"/>
            <a:ext cx="5250873" cy="437560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551FE5C-088B-769B-4B78-A89576858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Démo: Chiffrement avant </a:t>
            </a:r>
            <a:r>
              <a:rPr lang="fr-FR"/>
              <a:t>- après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369045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A996A-572F-3A44-9C59-61D35639F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30" y="597648"/>
            <a:ext cx="6357962" cy="56627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002" y="2766218"/>
            <a:ext cx="4377466" cy="1325563"/>
          </a:xfrm>
        </p:spPr>
        <p:txBody>
          <a:bodyPr/>
          <a:lstStyle/>
          <a:p>
            <a:pPr algn="ctr"/>
            <a:r>
              <a:rPr lang="fr-CH" b="1" dirty="0"/>
              <a:t>Démonstration</a:t>
            </a:r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604</Words>
  <Application>Microsoft Office PowerPoint</Application>
  <PresentationFormat>Grand écran</PresentationFormat>
  <Paragraphs>114</Paragraphs>
  <Slides>19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Aptos Display (En-têtes)</vt:lpstr>
      <vt:lpstr>Arial</vt:lpstr>
      <vt:lpstr>Avenir Next LT Pro Light</vt:lpstr>
      <vt:lpstr>Office Theme</vt:lpstr>
      <vt:lpstr>ASAD : Jeu de roulette</vt:lpstr>
      <vt:lpstr>Introduction</vt:lpstr>
      <vt:lpstr>Securité</vt:lpstr>
      <vt:lpstr>Disponibilité</vt:lpstr>
      <vt:lpstr>Disponibilité</vt:lpstr>
      <vt:lpstr>Modifiabilité</vt:lpstr>
      <vt:lpstr>M1 : Multi-plateaux</vt:lpstr>
      <vt:lpstr>M2 : Paris simultanés sur une même case</vt:lpstr>
      <vt:lpstr>Diagrammes</vt:lpstr>
      <vt:lpstr>Diagramme de Usecase</vt:lpstr>
      <vt:lpstr>DFD</vt:lpstr>
      <vt:lpstr>Diagramme de Requirements</vt:lpstr>
      <vt:lpstr>Diagramme de composants</vt:lpstr>
      <vt:lpstr>Diagramme de classes</vt:lpstr>
      <vt:lpstr>Diagramme de déploiement</vt:lpstr>
      <vt:lpstr>Critiques</vt:lpstr>
      <vt:lpstr>Avantages</vt:lpstr>
      <vt:lpstr>Démo: Chiffrement avant - après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N'Dri Yao Anassa</cp:lastModifiedBy>
  <cp:revision>40</cp:revision>
  <dcterms:created xsi:type="dcterms:W3CDTF">2026-04-21T20:42:31Z</dcterms:created>
  <dcterms:modified xsi:type="dcterms:W3CDTF">2026-05-27T09:39:35Z</dcterms:modified>
</cp:coreProperties>
</file>