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4" r:id="rId4"/>
    <p:sldId id="275" r:id="rId5"/>
    <p:sldId id="276" r:id="rId6"/>
    <p:sldId id="279" r:id="rId7"/>
    <p:sldId id="280" r:id="rId8"/>
    <p:sldId id="270" r:id="rId9"/>
    <p:sldId id="258" r:id="rId10"/>
    <p:sldId id="259" r:id="rId11"/>
    <p:sldId id="277" r:id="rId12"/>
    <p:sldId id="261" r:id="rId13"/>
    <p:sldId id="273" r:id="rId14"/>
    <p:sldId id="263" r:id="rId15"/>
    <p:sldId id="271" r:id="rId16"/>
    <p:sldId id="272" r:id="rId17"/>
    <p:sldId id="265" r:id="rId18"/>
    <p:sldId id="264" r:id="rId1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F80B0-8EF7-4B5C-A99C-A6E549D6FFBB}" type="datetimeFigureOut">
              <a:rPr lang="fr-CH" smtClean="0"/>
              <a:t>27.05.2026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48163-D5D4-4651-A954-E994903C76AF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925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Seul changement: </a:t>
            </a:r>
            <a:r>
              <a:rPr lang="fr-FR" dirty="0" err="1"/>
              <a:t>game-storage.json</a:t>
            </a:r>
            <a:r>
              <a:rPr lang="fr-FR" dirty="0"/>
              <a:t> (pseudo DB)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48163-D5D4-4651-A954-E994903C76AF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7494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Complexité moyenne, mise en place d’un repository et centralisation du fonctionnement d’un tour</a:t>
            </a:r>
          </a:p>
          <a:p>
            <a:pPr lvl="2"/>
            <a:r>
              <a:rPr lang="fr-FR" dirty="0"/>
              <a:t>Coût plutôt faible, méthode d’application équivalente au traitement précédent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403" y="876706"/>
            <a:ext cx="5484637" cy="174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E4AE9-8521-404F-4864-A5A4AB492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5D3C-5912-3E90-A946-CC86D61E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02A46-2457-532A-99E2-0B7A78C64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9108"/>
            <a:ext cx="593373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D2 : Persistance d’un tour</a:t>
            </a:r>
            <a:endParaRPr lang="fr-FR" i="1" dirty="0"/>
          </a:p>
          <a:p>
            <a:pPr marL="457200" lvl="1" indent="0">
              <a:buNone/>
            </a:pPr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sauvegarde les résultats dans le repository malgré une déconnexion</a:t>
            </a:r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 </a:t>
            </a:r>
            <a:r>
              <a:rPr lang="fr-FR" dirty="0"/>
              <a:t>:</a:t>
            </a:r>
          </a:p>
          <a:p>
            <a:pPr lvl="2"/>
            <a:r>
              <a:rPr lang="fr-FR" dirty="0"/>
              <a:t>Complexité équivalente à la précédente, les 2 objectifs étant </a:t>
            </a:r>
            <a:r>
              <a:rPr lang="fr-FR" dirty="0" err="1"/>
              <a:t>co</a:t>
            </a:r>
            <a:r>
              <a:rPr lang="fr-FR" dirty="0"/>
              <a:t>-dépendant</a:t>
            </a:r>
          </a:p>
          <a:p>
            <a:pPr lvl="2"/>
            <a:r>
              <a:rPr lang="fr-FR" dirty="0"/>
              <a:t>Coût moyen, stockage de l’ensemble des données du serveur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2AF649-5032-8F7C-4E64-440D2D436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42" y="2077347"/>
            <a:ext cx="4623372" cy="309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15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104D-CFB4-514D-D227-FCECB5C17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3B858-6690-34CA-4BD4-06255BE14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b="1" dirty="0" err="1">
                <a:latin typeface="Aptos Display (En-têtes)"/>
              </a:rPr>
              <a:t>Modifiabilité</a:t>
            </a:r>
            <a:endParaRPr lang="en-CH" b="1" dirty="0">
              <a:latin typeface="Aptos Display (En-têtes)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599DC-13B0-0FED-79A6-A26359CB1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M1 : Multi-Plateaux</a:t>
            </a:r>
          </a:p>
          <a:p>
            <a:pPr lvl="1"/>
            <a:r>
              <a:rPr lang="fr-FR" b="1" dirty="0"/>
              <a:t>Stratégie :</a:t>
            </a:r>
          </a:p>
          <a:p>
            <a:pPr lvl="2"/>
            <a:r>
              <a:rPr lang="fr-FR" dirty="0"/>
              <a:t>Mise en place de deux plateaux </a:t>
            </a:r>
            <a:r>
              <a:rPr lang="fr-FR" dirty="0">
                <a:latin typeface="Avenir Next LT Pro Light" panose="020B0304020202020204" pitchFamily="34" charset="0"/>
              </a:rPr>
              <a:t>(</a:t>
            </a:r>
            <a:r>
              <a:rPr lang="fr-FR" dirty="0" err="1">
                <a:latin typeface="Avenir Next LT Pro Light" panose="020B0304020202020204" pitchFamily="34" charset="0"/>
              </a:rPr>
              <a:t>european</a:t>
            </a:r>
            <a:r>
              <a:rPr lang="fr-FR" dirty="0">
                <a:latin typeface="Avenir Next LT Pro Light" panose="020B0304020202020204" pitchFamily="34" charset="0"/>
              </a:rPr>
              <a:t> et mini)</a:t>
            </a:r>
            <a:endParaRPr lang="fr-FR" i="1" dirty="0">
              <a:latin typeface="Avenir Next LT Pro Light" panose="020B0304020202020204" pitchFamily="34" charset="0"/>
            </a:endParaRPr>
          </a:p>
          <a:p>
            <a:pPr lvl="2"/>
            <a:r>
              <a:rPr lang="fr-FR" dirty="0"/>
              <a:t>Chaque joueur est verrouillé sur son premier plateau choisi</a:t>
            </a:r>
          </a:p>
          <a:p>
            <a:pPr lvl="2"/>
            <a:r>
              <a:rPr lang="fr-FR" dirty="0"/>
              <a:t>Traitement des paris séparé selon le plateau</a:t>
            </a:r>
          </a:p>
          <a:p>
            <a:pPr marL="914400" lvl="2" indent="0">
              <a:buNone/>
            </a:pPr>
            <a:endParaRPr lang="fr-FR" dirty="0"/>
          </a:p>
          <a:p>
            <a:pPr lvl="1"/>
            <a:r>
              <a:rPr lang="fr-CH" b="1" dirty="0"/>
              <a:t>Coût / Complexité </a:t>
            </a:r>
            <a:r>
              <a:rPr lang="fr-FR" b="1" dirty="0"/>
              <a:t> :</a:t>
            </a:r>
          </a:p>
          <a:p>
            <a:pPr lvl="2"/>
            <a:r>
              <a:rPr lang="fr-FR" i="1" dirty="0"/>
              <a:t> </a:t>
            </a:r>
            <a:r>
              <a:rPr lang="fr-FR" dirty="0"/>
              <a:t>Complexité moyenne, adaptation des modèles et des règles métier</a:t>
            </a:r>
          </a:p>
          <a:p>
            <a:pPr lvl="2"/>
            <a:r>
              <a:rPr lang="fr-FR" dirty="0"/>
              <a:t>Coût faible, logique réutilisée entre les plateaux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4214559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8C80F-B5F0-10E0-D4F3-F8C5FEFA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B44C-E900-9605-971B-88BE481A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 err="1"/>
              <a:t>Modifiabilité</a:t>
            </a:r>
            <a:endParaRPr lang="en-CH" b="1" dirty="0">
              <a:latin typeface="Aptos Display (En-têtes)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1ABCB-4067-B4EB-028D-BD6A0F9B8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M2 : Paris simultanés sur une même case</a:t>
            </a:r>
          </a:p>
          <a:p>
            <a:pPr lvl="1"/>
            <a:r>
              <a:rPr lang="fr-FR" b="1" dirty="0"/>
              <a:t>Stratégie :</a:t>
            </a:r>
          </a:p>
          <a:p>
            <a:pPr lvl="2"/>
            <a:r>
              <a:rPr lang="fr-FR" dirty="0"/>
              <a:t>Plusieurs joueurs peuvent parier sur le même numéro</a:t>
            </a:r>
          </a:p>
          <a:p>
            <a:pPr lvl="2"/>
            <a:r>
              <a:rPr lang="fr-FR" dirty="0"/>
              <a:t>Les paris sont stockés individuellement par utilisateur</a:t>
            </a:r>
          </a:p>
          <a:p>
            <a:pPr lvl="2"/>
            <a:r>
              <a:rPr lang="fr-FR" dirty="0"/>
              <a:t>Les gains sont calculés séparément pour chaque joueur</a:t>
            </a:r>
          </a:p>
          <a:p>
            <a:pPr marL="914400" lvl="2" indent="0">
              <a:buNone/>
            </a:pPr>
            <a:endParaRPr lang="fr-FR" dirty="0"/>
          </a:p>
          <a:p>
            <a:pPr lvl="1"/>
            <a:r>
              <a:rPr lang="fr-CH" b="1" dirty="0"/>
              <a:t>Coût / Complexité </a:t>
            </a:r>
            <a:r>
              <a:rPr lang="fr-FR" b="1" dirty="0"/>
              <a:t> :</a:t>
            </a:r>
          </a:p>
          <a:p>
            <a:pPr lvl="2"/>
            <a:r>
              <a:rPr lang="fr-FR" i="1" dirty="0"/>
              <a:t> </a:t>
            </a:r>
            <a:r>
              <a:rPr lang="fr-FR" dirty="0"/>
              <a:t>Complexité faible à moyenne, adaptation de la gestion des paris</a:t>
            </a:r>
          </a:p>
          <a:p>
            <a:pPr lvl="2"/>
            <a:r>
              <a:rPr lang="fr-FR" dirty="0"/>
              <a:t>Coût faible, extension de la structure existante des bets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193804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BF12-01CB-D324-E934-33F00DD3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7BF4-153D-CA42-89C5-5EDA17292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138B8316-3ABD-17BC-642C-1D81BA5AF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178" y="692092"/>
            <a:ext cx="9691644" cy="603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19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41840" y="5121691"/>
            <a:ext cx="10405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 et les parties complétées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21" y="2442572"/>
            <a:ext cx="10181042" cy="355497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323A00E-7E6C-BEE3-CE36-55B30978D934}"/>
              </a:ext>
            </a:extLst>
          </p:cNvPr>
          <p:cNvSpPr txBox="1"/>
          <p:nvPr/>
        </p:nvSpPr>
        <p:spPr>
          <a:xfrm>
            <a:off x="665018" y="1637507"/>
            <a:ext cx="9892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 ajout du </a:t>
            </a:r>
            <a:r>
              <a:rPr lang="fr-FR" dirty="0" err="1"/>
              <a:t>game-storage.json</a:t>
            </a:r>
            <a:r>
              <a:rPr lang="fr-FR" dirty="0"/>
              <a:t> qui fait office de DB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  <a:p>
            <a:r>
              <a:rPr lang="fr-FR" sz="2200" i="1" dirty="0"/>
              <a:t>Implémentation moderne et sécurisée (DTO, Repository)</a:t>
            </a:r>
          </a:p>
          <a:p>
            <a:r>
              <a:rPr lang="fr-FR" sz="2200" i="1" dirty="0"/>
              <a:t>Concurrence réactive et fluide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  <a:p>
            <a:r>
              <a:rPr lang="fr-FR" sz="2200" i="1" dirty="0"/>
              <a:t>Absence de certaines options de jeu ( Rouge/Noir, Pair/Impair, 3 zones de cases, etc.)</a:t>
            </a:r>
          </a:p>
          <a:p>
            <a:r>
              <a:rPr lang="fr-FR" sz="2200" i="1" dirty="0"/>
              <a:t>Absence d’un historique des tirages précédent</a:t>
            </a:r>
          </a:p>
          <a:p>
            <a:endParaRPr lang="fr-FR" sz="2200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739" t="36736"/>
          <a:stretch>
            <a:fillRect/>
          </a:stretch>
        </p:blipFill>
        <p:spPr>
          <a:xfrm>
            <a:off x="565266" y="1920240"/>
            <a:ext cx="5010160" cy="4322618"/>
          </a:xfrm>
          <a:prstGeom prst="rect">
            <a:avLst/>
          </a:prstGeom>
        </p:spPr>
      </p:pic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19" t="41576"/>
          <a:stretch>
            <a:fillRect/>
          </a:stretch>
        </p:blipFill>
        <p:spPr>
          <a:xfrm>
            <a:off x="6135148" y="1920240"/>
            <a:ext cx="5250873" cy="437560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551FE5C-088B-769B-4B78-A89576858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Démo: Chiffrement avant </a:t>
            </a:r>
            <a:r>
              <a:rPr lang="fr-FR"/>
              <a:t>- après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69045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562</Words>
  <Application>Microsoft Office PowerPoint</Application>
  <PresentationFormat>Widescreen</PresentationFormat>
  <Paragraphs>107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Aptos Display (En-têtes)</vt:lpstr>
      <vt:lpstr>Arial</vt:lpstr>
      <vt:lpstr>Avenir Next LT Pro Light</vt:lpstr>
      <vt:lpstr>Office Theme</vt:lpstr>
      <vt:lpstr>ASAD : Jeu de roulette</vt:lpstr>
      <vt:lpstr>Introduction</vt:lpstr>
      <vt:lpstr>Securité</vt:lpstr>
      <vt:lpstr>Disponibilité</vt:lpstr>
      <vt:lpstr>Disponibilité</vt:lpstr>
      <vt:lpstr>Modifiabilité</vt:lpstr>
      <vt:lpstr>Modifiabilité</vt:lpstr>
      <vt:lpstr>Diagrammes</vt:lpstr>
      <vt:lpstr>Diagramme de Usecase</vt:lpstr>
      <vt:lpstr>DFD</vt:lpstr>
      <vt:lpstr>Diagramme de Requirements</vt:lpstr>
      <vt:lpstr>Diagramme de composants</vt:lpstr>
      <vt:lpstr>Diagramme de classes</vt:lpstr>
      <vt:lpstr>Diagramme de déploiement</vt:lpstr>
      <vt:lpstr>Critiques</vt:lpstr>
      <vt:lpstr>Avantages</vt:lpstr>
      <vt:lpstr>Démo: Chiffrement avant - après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Bhama Steiger</cp:lastModifiedBy>
  <cp:revision>42</cp:revision>
  <dcterms:created xsi:type="dcterms:W3CDTF">2026-04-21T20:42:31Z</dcterms:created>
  <dcterms:modified xsi:type="dcterms:W3CDTF">2026-05-27T09:44:27Z</dcterms:modified>
</cp:coreProperties>
</file>